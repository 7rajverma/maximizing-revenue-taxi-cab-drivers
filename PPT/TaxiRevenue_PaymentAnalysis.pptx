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A643F">
              <a:alpha val="85000"/>
            </a:srgbClr>
          </a:solidFill>
          <a:ln w="12700">
            <a:solidFill>
              <a:srgbClr val="FA643F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Maximizing Revenue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Taxi Cab Drivers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B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Payment Type Analysis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097280" cy="54864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B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 Trip Data  •  January 2020  •  A/B Test Study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3566160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🚖 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fast-paced taxi booking sector, maximizing revenue is essential for long-term success. This study investigates whether payment methods have a significant impact on fare pricing — focusing on the relationship between payment type and fare amount.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690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91440" cy="3566160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A/B test to examine the relationship between total fare amount and payment method using Python hypothesis testing and descriptive statistics.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customers be nudged toward payment methods that generate higher revenue for drivers without negatively impacting customer experience?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325880"/>
          </a:xfrm>
          <a:prstGeom prst="rect">
            <a:avLst/>
          </a:prstGeom>
          <a:solidFill>
            <a:srgbClr val="1A2C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64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6.4M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325880"/>
          </a:xfrm>
          <a:prstGeom prst="rect">
            <a:avLst/>
          </a:prstGeom>
          <a:solidFill>
            <a:srgbClr val="1A2C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64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20240" cy="1325880"/>
          </a:xfrm>
          <a:prstGeom prst="rect">
            <a:avLst/>
          </a:prstGeom>
          <a:solidFill>
            <a:srgbClr val="1A2C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64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20240" cy="1325880"/>
          </a:xfrm>
          <a:prstGeom prst="rect">
            <a:avLst/>
          </a:prstGeom>
          <a:solidFill>
            <a:srgbClr val="1A2C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64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Columns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606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 in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1828800" cy="31089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6324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06324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passengers per trip (filtered: 1–5)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447288"/>
            <a:ext cx="1828800" cy="31089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4728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344728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(type 1) or Cash (type 2)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31336"/>
            <a:ext cx="1828800" cy="31089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83133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3831336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fare charged for the trip (USD)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215384"/>
            <a:ext cx="1828800" cy="31089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21538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4215384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travelled during the trip (miles)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599432"/>
            <a:ext cx="1828800" cy="31089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59943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4599432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derived from pickup/dropoff timestamps (min)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Cleaning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69848"/>
            <a:ext cx="384048" cy="384048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69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Timestamps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tpep_pickup_datetime and tpep_dropoff_datetime to datetime. Computed trip duration in minutes.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2423160"/>
            <a:ext cx="384048" cy="384048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04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Selection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5 relevant columns: passenger_count, payment_type, fare_amount, trip_distance, duration.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666744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776472"/>
            <a:ext cx="384048" cy="384048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758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2394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65,441 rows (~1%) with null values in passenger_count and payment_type. Verified zero nulls remain.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069848"/>
            <a:ext cx="384048" cy="384048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069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Encode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only payment types 1 &amp; 2 (Card/Cash). Kept passenger counts 1–5. Removed negative/zero fares, distances, durations.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313432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423160"/>
            <a:ext cx="384048" cy="384048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404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3.3M duplicate rows, reducing dataset from ~6.1M to ~3M unique records.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66744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776472"/>
            <a:ext cx="384048" cy="384048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3758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 (IQR)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12394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1.5×IQR rule on fare_amount, trip_distance, and duration. Final clean dataset: 2.19M rows.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65842" cy="411480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77322" y="1325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6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 67.8%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207099" cy="411480"/>
          </a:xfrm>
          <a:prstGeom prst="rect">
            <a:avLst/>
          </a:prstGeom>
          <a:solidFill>
            <a:srgbClr val="FFBCAB"/>
          </a:solidFill>
          <a:ln w="12700">
            <a:solidFill>
              <a:srgbClr val="FFBC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579" y="1874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 30.7%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0" cy="3931920"/>
          </a:xfrm>
          <a:prstGeom prst="line">
            <a:avLst/>
          </a:prstGeom>
          <a:noFill/>
          <a:ln w="12700">
            <a:solidFill>
              <a:srgbClr val="6B7A8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by Payment Type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25880"/>
          <a:ext cx="393192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Fare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 Fare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Distance (mi)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 Distance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3291840"/>
            <a:ext cx="3931920" cy="1508760"/>
          </a:xfrm>
          <a:prstGeom prst="rect">
            <a:avLst/>
          </a:prstGeom>
          <a:solidFill>
            <a:srgbClr val="1A2C5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3364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6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3639312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payers pay ~$1.18 more on average per trip and travel ~0.33 miles more. The distribution of fares is right-skewed for both groups, requiring the use of a non-parametric or robust test.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2468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Distribution by Payment Type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2798064"/>
            <a:ext cx="502920" cy="177393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66090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6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950976" y="3653028"/>
            <a:ext cx="502920" cy="918972"/>
          </a:xfrm>
          <a:prstGeom prst="rect">
            <a:avLst/>
          </a:prstGeom>
          <a:solidFill>
            <a:srgbClr val="FFBCAB"/>
          </a:solidFill>
          <a:ln w="12700">
            <a:solidFill>
              <a:srgbClr val="FFBCA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5256" y="351586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65760" y="459028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pax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691640" y="3913632"/>
            <a:ext cx="502920" cy="658368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45920" y="37764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6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231136" y="4256532"/>
            <a:ext cx="502920" cy="315468"/>
          </a:xfrm>
          <a:prstGeom prst="rect">
            <a:avLst/>
          </a:prstGeom>
          <a:solidFill>
            <a:srgbClr val="FFBCAB"/>
          </a:solidFill>
          <a:ln w="12700">
            <a:solidFill>
              <a:srgbClr val="FFBCA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85416" y="41193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645920" y="459028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pax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971800" y="4325112"/>
            <a:ext cx="502920" cy="246888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26080" y="418795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6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3511296" y="4462272"/>
            <a:ext cx="502920" cy="109728"/>
          </a:xfrm>
          <a:prstGeom prst="rect">
            <a:avLst/>
          </a:prstGeom>
          <a:solidFill>
            <a:srgbClr val="FFBCAB"/>
          </a:solidFill>
          <a:ln w="12700">
            <a:solidFill>
              <a:srgbClr val="FFBCA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65576" y="432511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926080" y="459028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pax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251960" y="4443984"/>
            <a:ext cx="502920" cy="12801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06240" y="4306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6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4791456" y="4503420"/>
            <a:ext cx="502920" cy="68580"/>
          </a:xfrm>
          <a:prstGeom prst="rect">
            <a:avLst/>
          </a:prstGeom>
          <a:solidFill>
            <a:srgbClr val="FFBCAB"/>
          </a:solidFill>
          <a:ln w="12700">
            <a:solidFill>
              <a:srgbClr val="FFBCA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45736" y="43662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206240" y="459028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pax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532120" y="4320540"/>
            <a:ext cx="502920" cy="251460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0" y="41833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6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071616" y="4475988"/>
            <a:ext cx="502920" cy="96012"/>
          </a:xfrm>
          <a:prstGeom prst="rect">
            <a:avLst/>
          </a:prstGeom>
          <a:solidFill>
            <a:srgbClr val="FFBCAB"/>
          </a:solidFill>
          <a:ln w="12700">
            <a:solidFill>
              <a:srgbClr val="FFBCA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25896" y="433882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486400" y="4590288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pax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20040" y="4846320"/>
            <a:ext cx="164592" cy="128016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1208" y="48188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005840" y="4846320"/>
            <a:ext cx="164592" cy="128016"/>
          </a:xfrm>
          <a:prstGeom prst="rect">
            <a:avLst/>
          </a:prstGeom>
          <a:solidFill>
            <a:srgbClr val="FFBCAB"/>
          </a:solidFill>
          <a:ln w="12700">
            <a:solidFill>
              <a:srgbClr val="FFBCA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207008" y="48188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Hypothesis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(Null Hypothesis)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difference in average fare amount between customers who pay by credit card and those who pay by cash.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(Alternative Hypothesis)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35331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significant difference in average fare amount between customers who pay by credit card and those who pay by cash.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Methodology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8163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Test 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2004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Two-Sample t-Test (unequal variances), as the data is not normally distributed (confirmed via QQ-plot).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7432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28163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Significance 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2004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0.05.  We reject H₀ if p-value &lt; 0.05.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27432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28163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Samples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sample: ~1.47M fares.  Cash sample: ~724K fares.  Both large enough for CLT to apply.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480560"/>
            <a:ext cx="8503920" cy="548640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Result:   T-statistic = 163.42   |   p-value ≈ 0.0   →   We REJECT the Null Hypothesis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&amp; Business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Key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35608"/>
            <a:ext cx="256032" cy="256032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8988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generate ~$1.18 more per trip on average (12.42 vs. 11.23).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039112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103120"/>
            <a:ext cx="256032" cy="256032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5740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trips cover ~0.33 miles more on average (2.73 vs. 2.40 miles).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7066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770632"/>
            <a:ext cx="256032" cy="256032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2491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 of trips are already paid by card vs. only 30.7% by cash.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37413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438144"/>
            <a:ext cx="256032" cy="256032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9242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in fares is statistically significant (p ≈ 0, T = 163.42).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04164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4105656"/>
            <a:ext cx="256032" cy="256032"/>
          </a:xfrm>
          <a:prstGeom prst="ellipse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05993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usage dominates across all passenger group sizes.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Recommendations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371600"/>
            <a:ext cx="91440" cy="749808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Promote Card Payments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1719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in-app incentives or loyalty points for card-paying riders to shift more trips to card.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40280"/>
            <a:ext cx="91440" cy="749808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295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Contactless Terminals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2587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taxis have working card readers to reduce cash-only fallback.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108960"/>
            <a:ext cx="91440" cy="749808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63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Fare Transparency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estimated fare upfront in card-enabled apps to attract higher-spend passengers.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9776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977640"/>
            <a:ext cx="91440" cy="749808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0325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Monitor Monthly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4325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payment-type KPIs monthly to measure impact of policy changes on driver revenue.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B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evidence confirms that credit card payments are associated with significantly higher fares compared to cash payments in NYC yellow taxi trips.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4864" cy="54864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29968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(Welch's t-test) produced T = 163.42 and p ≈ 0, firmly rejecting the null hypothesis.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779776"/>
            <a:ext cx="54864" cy="54864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06624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payers generate ~10.5% more fare revenue per trip on average.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456432"/>
            <a:ext cx="54864" cy="54864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383280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card payment adoption is a low-friction, high-impact revenue strategy.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33088"/>
            <a:ext cx="54864" cy="54864"/>
          </a:xfrm>
          <a:prstGeom prst="rect">
            <a:avLst/>
          </a:prstGeom>
          <a:solidFill>
            <a:srgbClr val="FA643F"/>
          </a:solidFill>
          <a:ln w="12700">
            <a:solidFill>
              <a:srgbClr val="FA64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59936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segment analysis by time-of-day, zone, and passenger count.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 Trip Data  |  January 2020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Maximizing Revenue for Taxi Cab Drivers through Payment Type Analysis</dc:title>
  <dc:subject>PptxGenJS Presentation</dc:subject>
  <dc:creator>PptxGenJS</dc:creator>
  <cp:lastModifiedBy>PptxGenJS</cp:lastModifiedBy>
  <cp:revision>1</cp:revision>
  <dcterms:created xsi:type="dcterms:W3CDTF">2026-05-12T06:54:18Z</dcterms:created>
  <dcterms:modified xsi:type="dcterms:W3CDTF">2026-05-12T06:54:18Z</dcterms:modified>
</cp:coreProperties>
</file>